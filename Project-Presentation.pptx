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8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7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4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6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5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0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53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8556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45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00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5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74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2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DD6C016-BAB6-4CB4-9A06-D54A38A59D8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C5BCC-DD8F-442D-AFBE-72F4FA558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8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rn4638975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6DA0-9ED0-72B6-9188-C690EEB63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777" y="1547643"/>
            <a:ext cx="9988446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COVID-19 Pandemic Effect on Corporate Stocks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6A1EC-52CE-72A9-0C6A-DD536C70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1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Presented by:</a:t>
            </a:r>
            <a:endParaRPr lang="ar-EG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Rahma Nabil</a:t>
            </a:r>
          </a:p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Date:</a:t>
            </a: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2/7/2026</a:t>
            </a:r>
          </a:p>
        </p:txBody>
      </p:sp>
    </p:spTree>
    <p:extLst>
      <p:ext uri="{BB962C8B-B14F-4D97-AF65-F5344CB8AC3E}">
        <p14:creationId xmlns:p14="http://schemas.microsoft.com/office/powerpoint/2010/main" val="265857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E305-85E7-A7FF-F6E9-768486C9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6495"/>
          </a:xfrm>
        </p:spPr>
        <p:txBody>
          <a:bodyPr/>
          <a:lstStyle/>
          <a:p>
            <a:r>
              <a:rPr lang="en-US" b="1" dirty="0"/>
              <a:t>Project Idea</a:t>
            </a:r>
            <a:r>
              <a:rPr lang="ar-EG" b="1" dirty="0"/>
              <a:t>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60E8-F3AE-ECFD-0DA8-7CC8749EF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9404723" cy="1951587"/>
          </a:xfrm>
        </p:spPr>
        <p:txBody>
          <a:bodyPr>
            <a:normAutofit/>
          </a:bodyPr>
          <a:lstStyle/>
          <a:p>
            <a:r>
              <a:rPr lang="en-US" b="1" dirty="0"/>
              <a:t>The Challenge</a:t>
            </a:r>
          </a:p>
          <a:p>
            <a:r>
              <a:rPr lang="en-US" dirty="0"/>
              <a:t>The COVID-19 era (2018–2022) reshaped global markets. While some companies struggled, others achieved remarkable growth.</a:t>
            </a:r>
          </a:p>
          <a:p>
            <a:r>
              <a:rPr lang="en-US" b="1" dirty="0"/>
              <a:t>Key Question:</a:t>
            </a:r>
            <a:br>
              <a:rPr lang="en-US" dirty="0"/>
            </a:br>
            <a:r>
              <a:rPr lang="en-US" i="1" dirty="0"/>
              <a:t>Did all companies respond to this transformation in the same way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087848-51EC-C08B-D466-B341D8D143ED}"/>
              </a:ext>
            </a:extLst>
          </p:cNvPr>
          <p:cNvSpPr txBox="1">
            <a:spLocks/>
          </p:cNvSpPr>
          <p:nvPr/>
        </p:nvSpPr>
        <p:spPr>
          <a:xfrm>
            <a:off x="1393638" y="1410620"/>
            <a:ext cx="9404723" cy="7464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83046B-7E4E-32AA-B527-7DB050424BDF}"/>
              </a:ext>
            </a:extLst>
          </p:cNvPr>
          <p:cNvSpPr txBox="1">
            <a:spLocks/>
          </p:cNvSpPr>
          <p:nvPr/>
        </p:nvSpPr>
        <p:spPr>
          <a:xfrm>
            <a:off x="1104293" y="3731889"/>
            <a:ext cx="5371458" cy="2111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Our Solution</a:t>
            </a:r>
          </a:p>
          <a:p>
            <a:r>
              <a:rPr lang="en-US" dirty="0"/>
              <a:t>An interactive </a:t>
            </a:r>
            <a:r>
              <a:rPr lang="en-US" b="1" dirty="0"/>
              <a:t>Power BI dashboard</a:t>
            </a:r>
            <a:r>
              <a:rPr lang="en-US" dirty="0"/>
              <a:t> analyzing </a:t>
            </a:r>
            <a:r>
              <a:rPr lang="en-US" b="1" dirty="0"/>
              <a:t>20 Fortune 500 companies</a:t>
            </a:r>
            <a:r>
              <a:rPr lang="en-US" dirty="0"/>
              <a:t> through performance, risk, recovery, and sector comparison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C0E05E-CDE6-753E-CC8F-D958FB0C329D}"/>
              </a:ext>
            </a:extLst>
          </p:cNvPr>
          <p:cNvSpPr txBox="1">
            <a:spLocks/>
          </p:cNvSpPr>
          <p:nvPr/>
        </p:nvSpPr>
        <p:spPr>
          <a:xfrm>
            <a:off x="6683508" y="3731889"/>
            <a:ext cx="4991707" cy="2617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Unique Value</a:t>
            </a:r>
          </a:p>
          <a:p>
            <a:r>
              <a:rPr lang="en-US" dirty="0"/>
              <a:t>Beyond Returns </a:t>
            </a:r>
          </a:p>
          <a:p>
            <a:r>
              <a:rPr lang="en-US" dirty="0"/>
              <a:t>Risk &amp; Recovery Analysis </a:t>
            </a:r>
          </a:p>
          <a:p>
            <a:r>
              <a:rPr lang="en-US" dirty="0"/>
              <a:t>Tech vs Non-Tech Comparison </a:t>
            </a:r>
          </a:p>
          <a:p>
            <a:r>
              <a:rPr lang="en-US" dirty="0"/>
              <a:t>Actionable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55753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8EF-8846-86D9-5958-0E41C58D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475"/>
          </a:xfrm>
        </p:spPr>
        <p:txBody>
          <a:bodyPr/>
          <a:lstStyle/>
          <a:p>
            <a:r>
              <a:rPr lang="en-US" dirty="0"/>
              <a:t>Project Wireframe: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7E064F-9107-F2E5-B79D-2CD158573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26" y="1703654"/>
            <a:ext cx="5897974" cy="358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FB354-F0D1-A517-E4AA-8F71DDFA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858" y="1787516"/>
            <a:ext cx="5760116" cy="3504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64CC36-09CB-54F3-EEA7-B6FF94D33DF6}"/>
              </a:ext>
            </a:extLst>
          </p:cNvPr>
          <p:cNvSpPr txBox="1"/>
          <p:nvPr/>
        </p:nvSpPr>
        <p:spPr>
          <a:xfrm>
            <a:off x="890993" y="5291528"/>
            <a:ext cx="451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Portfolio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1EE76-1DB3-EF6A-6F42-7506561AB29B}"/>
              </a:ext>
            </a:extLst>
          </p:cNvPr>
          <p:cNvSpPr txBox="1"/>
          <p:nvPr/>
        </p:nvSpPr>
        <p:spPr>
          <a:xfrm>
            <a:off x="6857896" y="5291528"/>
            <a:ext cx="451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KPI Rankings</a:t>
            </a:r>
          </a:p>
        </p:txBody>
      </p:sp>
    </p:spTree>
    <p:extLst>
      <p:ext uri="{BB962C8B-B14F-4D97-AF65-F5344CB8AC3E}">
        <p14:creationId xmlns:p14="http://schemas.microsoft.com/office/powerpoint/2010/main" val="401792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CA2A-8D4E-FB1F-5FA0-024E6884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6515"/>
          </a:xfrm>
        </p:spPr>
        <p:txBody>
          <a:bodyPr/>
          <a:lstStyle/>
          <a:p>
            <a:r>
              <a:rPr lang="en-US" dirty="0"/>
              <a:t>Project Wireframe: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E85AF-5B67-1CBA-D847-FBE97E9B6381}"/>
              </a:ext>
            </a:extLst>
          </p:cNvPr>
          <p:cNvSpPr txBox="1"/>
          <p:nvPr/>
        </p:nvSpPr>
        <p:spPr>
          <a:xfrm>
            <a:off x="926934" y="5396379"/>
            <a:ext cx="451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COVID Deep Dive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0E03C-4692-70D4-31D1-F97C89D6118E}"/>
              </a:ext>
            </a:extLst>
          </p:cNvPr>
          <p:cNvSpPr txBox="1"/>
          <p:nvPr/>
        </p:nvSpPr>
        <p:spPr>
          <a:xfrm>
            <a:off x="6857896" y="5291528"/>
            <a:ext cx="4512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Tech  vs Non-Tech </a:t>
            </a:r>
          </a:p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Comparison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E390FF5-12D1-5335-54C5-23AF8271B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08" y="1787516"/>
            <a:ext cx="5826092" cy="35042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C938EF-A97E-0230-BFB0-4DAAF3507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539" y="1842043"/>
            <a:ext cx="5682553" cy="339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9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8D8F-C9D2-21ED-037C-24D13FBCA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1505"/>
          </a:xfrm>
        </p:spPr>
        <p:txBody>
          <a:bodyPr/>
          <a:lstStyle/>
          <a:p>
            <a:r>
              <a:rPr lang="en-US" dirty="0"/>
              <a:t>Project Wireframe: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CB858-E302-C080-3729-1C1CAC031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936" y="1333110"/>
            <a:ext cx="5600064" cy="3388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8A1225-36B4-9777-6FC8-B1922D27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770" y="1386466"/>
            <a:ext cx="5472365" cy="3282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8628B7-861D-120F-7845-A9ACBFB90024}"/>
              </a:ext>
            </a:extLst>
          </p:cNvPr>
          <p:cNvSpPr txBox="1"/>
          <p:nvPr/>
        </p:nvSpPr>
        <p:spPr>
          <a:xfrm>
            <a:off x="1381705" y="4721902"/>
            <a:ext cx="39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Company Drill Down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74433-805B-D58C-6857-1B4E32DD8AAC}"/>
              </a:ext>
            </a:extLst>
          </p:cNvPr>
          <p:cNvSpPr txBox="1"/>
          <p:nvPr/>
        </p:nvSpPr>
        <p:spPr>
          <a:xfrm>
            <a:off x="6981769" y="4668545"/>
            <a:ext cx="39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E1086-5786-64A5-6A38-744FB200BE2F}"/>
              </a:ext>
            </a:extLst>
          </p:cNvPr>
          <p:cNvSpPr txBox="1"/>
          <p:nvPr/>
        </p:nvSpPr>
        <p:spPr>
          <a:xfrm>
            <a:off x="204977" y="5183567"/>
            <a:ext cx="2353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Focus:</a:t>
            </a:r>
            <a:endParaRPr lang="en-US" sz="2800" b="1" dirty="0">
              <a:solidFill>
                <a:schemeClr val="bg2">
                  <a:lumMod val="20000"/>
                  <a:lumOff val="8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3A0D1-41E8-A6D6-C621-E5327BE9D8B3}"/>
              </a:ext>
            </a:extLst>
          </p:cNvPr>
          <p:cNvSpPr txBox="1"/>
          <p:nvPr/>
        </p:nvSpPr>
        <p:spPr>
          <a:xfrm>
            <a:off x="781023" y="5697396"/>
            <a:ext cx="8874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Provide a smooth analytical journey from global market insights to detailed company-level analysis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258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4821D1-35B9-2F61-63AF-02BB73D55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278717"/>
              </p:ext>
            </p:extLst>
          </p:nvPr>
        </p:nvGraphicFramePr>
        <p:xfrm>
          <a:off x="779488" y="1319135"/>
          <a:ext cx="10373192" cy="5075282"/>
        </p:xfrm>
        <a:graphic>
          <a:graphicData uri="http://schemas.openxmlformats.org/drawingml/2006/table">
            <a:tbl>
              <a:tblPr/>
              <a:tblGrid>
                <a:gridCol w="2593298">
                  <a:extLst>
                    <a:ext uri="{9D8B030D-6E8A-4147-A177-3AD203B41FA5}">
                      <a16:colId xmlns:a16="http://schemas.microsoft.com/office/drawing/2014/main" val="3499815869"/>
                    </a:ext>
                  </a:extLst>
                </a:gridCol>
                <a:gridCol w="2593298">
                  <a:extLst>
                    <a:ext uri="{9D8B030D-6E8A-4147-A177-3AD203B41FA5}">
                      <a16:colId xmlns:a16="http://schemas.microsoft.com/office/drawing/2014/main" val="3123761515"/>
                    </a:ext>
                  </a:extLst>
                </a:gridCol>
                <a:gridCol w="2593298">
                  <a:extLst>
                    <a:ext uri="{9D8B030D-6E8A-4147-A177-3AD203B41FA5}">
                      <a16:colId xmlns:a16="http://schemas.microsoft.com/office/drawing/2014/main" val="303446337"/>
                    </a:ext>
                  </a:extLst>
                </a:gridCol>
                <a:gridCol w="2593298">
                  <a:extLst>
                    <a:ext uri="{9D8B030D-6E8A-4147-A177-3AD203B41FA5}">
                      <a16:colId xmlns:a16="http://schemas.microsoft.com/office/drawing/2014/main" val="2995621582"/>
                    </a:ext>
                  </a:extLst>
                </a:gridCol>
              </a:tblGrid>
              <a:tr h="389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End User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Need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Feature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How It Helps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11257"/>
                  </a:ext>
                </a:extLst>
              </a:tr>
              <a:tr h="1561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Investors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Find profitable investment opportunities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Portfolio Overview, KPI Rankings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Quickly identify the best-performing companies and compare returns.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87987"/>
                  </a:ext>
                </a:extLst>
              </a:tr>
              <a:tr h="1561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Financial Analysts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Measure risk and evaluate performance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Volatility, Sharpe Ratio, Max Drawdown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Analyze risk, compare companies, and support financial analysis.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914877"/>
                  </a:ext>
                </a:extLst>
              </a:tr>
              <a:tr h="1561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Portfolio Managers</a:t>
                      </a:r>
                      <a:endParaRPr lang="en-US" sz="1700"/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Compare sectors and monitor trends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Tech vs Non-Tech Analysis, Company Drill-Down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Evaluate sector performance and make informed portfolio decisions.</a:t>
                      </a:r>
                    </a:p>
                  </a:txBody>
                  <a:tcPr marL="85628" marR="85628" marT="42814" marB="42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6285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CF672FF-373D-90E4-1BEB-55E9EAC9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3" y="452438"/>
            <a:ext cx="9404350" cy="657225"/>
          </a:xfrm>
        </p:spPr>
        <p:txBody>
          <a:bodyPr/>
          <a:lstStyle/>
          <a:p>
            <a:r>
              <a:rPr lang="en-US" sz="3600" b="1" dirty="0"/>
              <a:t>End Users &amp; Features</a:t>
            </a:r>
            <a:br>
              <a:rPr lang="en-US" sz="3600" b="1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922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7B55E-135C-F10B-8920-7DE355E74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1525"/>
          </a:xfrm>
        </p:spPr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C1610-A866-CEB4-1662-8E6E66698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19134"/>
            <a:ext cx="6174413" cy="5086148"/>
          </a:xfrm>
        </p:spPr>
        <p:txBody>
          <a:bodyPr>
            <a:normAutofit/>
          </a:bodyPr>
          <a:lstStyle/>
          <a:p>
            <a:r>
              <a:rPr lang="en-US" b="1" dirty="0"/>
              <a:t>Database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Star Schema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 Fact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Daily Stock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</a:t>
            </a:r>
            <a:r>
              <a:rPr lang="en-US" dirty="0" err="1"/>
              <a:t>BetaReturns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20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 Dimension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</a:t>
            </a:r>
            <a:r>
              <a:rPr lang="en-US" dirty="0" err="1"/>
              <a:t>dimCompany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</a:t>
            </a:r>
            <a:r>
              <a:rPr lang="en-US" dirty="0" err="1"/>
              <a:t>dCalendar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6B50C9-96A3-DE38-FF45-37E39F6F1AB4}"/>
              </a:ext>
            </a:extLst>
          </p:cNvPr>
          <p:cNvSpPr txBox="1">
            <a:spLocks/>
          </p:cNvSpPr>
          <p:nvPr/>
        </p:nvSpPr>
        <p:spPr>
          <a:xfrm>
            <a:off x="5849627" y="1635048"/>
            <a:ext cx="5696262" cy="4454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dimCompany</a:t>
            </a:r>
            <a:r>
              <a:rPr lang="en-US" dirty="0"/>
              <a:t> (1) ─── (*) Daily Stock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dimCompany</a:t>
            </a:r>
            <a:r>
              <a:rPr lang="en-US" dirty="0"/>
              <a:t> (1) ─── (*) </a:t>
            </a:r>
            <a:r>
              <a:rPr lang="en-US" dirty="0" err="1"/>
              <a:t>BetaReturns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dimCompany</a:t>
            </a:r>
            <a:r>
              <a:rPr lang="en-US" dirty="0"/>
              <a:t> (1) ─── (*) 20 Companies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dCalendar</a:t>
            </a:r>
            <a:r>
              <a:rPr lang="en-US" dirty="0"/>
              <a:t> (1) ─── (*) Daily Stock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dCalendar</a:t>
            </a:r>
            <a:r>
              <a:rPr lang="en-US" dirty="0"/>
              <a:t> (1) ─── (*) </a:t>
            </a:r>
            <a:r>
              <a:rPr lang="en-US" dirty="0" err="1"/>
              <a:t>BetaReturns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dCalendar</a:t>
            </a:r>
            <a:r>
              <a:rPr lang="en-US" dirty="0"/>
              <a:t> (1) ─── (*) 20 Companies</a:t>
            </a:r>
          </a:p>
        </p:txBody>
      </p:sp>
    </p:spTree>
    <p:extLst>
      <p:ext uri="{BB962C8B-B14F-4D97-AF65-F5344CB8AC3E}">
        <p14:creationId xmlns:p14="http://schemas.microsoft.com/office/powerpoint/2010/main" val="107935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6ED3-E206-D456-22CF-D92926F9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6515"/>
          </a:xfrm>
        </p:spPr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2D322E-AC6B-3E9B-13FF-AC5EC1769C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6111" y="1464921"/>
            <a:ext cx="6076976" cy="3928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r>
              <a:rPr lang="en-US" b="1" dirty="0"/>
              <a:t>Dataset Characteristics</a:t>
            </a:r>
          </a:p>
          <a:p>
            <a:r>
              <a:rPr lang="en-US" b="1" dirty="0"/>
              <a:t>Companies: </a:t>
            </a:r>
            <a:r>
              <a:rPr lang="en-US" dirty="0"/>
              <a:t>20</a:t>
            </a:r>
          </a:p>
          <a:p>
            <a:r>
              <a:rPr lang="en-US" b="1" dirty="0"/>
              <a:t>Period: </a:t>
            </a:r>
            <a:r>
              <a:rPr lang="en-US" dirty="0"/>
              <a:t>2018–2022</a:t>
            </a:r>
          </a:p>
          <a:p>
            <a:r>
              <a:rPr lang="en-US" b="1" dirty="0"/>
              <a:t>Sectors: </a:t>
            </a:r>
            <a:r>
              <a:rPr lang="en-US" dirty="0"/>
              <a:t>Technology, Retail, Finance, Energy, Healthcare, Transportation</a:t>
            </a:r>
          </a:p>
          <a:p>
            <a:r>
              <a:rPr lang="en-US" b="1" dirty="0"/>
              <a:t>Daily Records: </a:t>
            </a:r>
            <a:r>
              <a:rPr lang="en-US" dirty="0"/>
              <a:t>Stock Market Trading Data</a:t>
            </a:r>
          </a:p>
          <a:p>
            <a:r>
              <a:rPr lang="en-US" b="1" dirty="0" err="1"/>
              <a:t>FinancialRecords</a:t>
            </a:r>
            <a:r>
              <a:rPr lang="en-US" b="1" dirty="0"/>
              <a:t>: </a:t>
            </a:r>
            <a:r>
              <a:rPr lang="en-US" dirty="0"/>
              <a:t>Annual Financial Statements</a:t>
            </a:r>
          </a:p>
          <a:p>
            <a:r>
              <a:rPr lang="en-US" b="1" dirty="0"/>
              <a:t>Risk Metrics: </a:t>
            </a:r>
            <a:r>
              <a:rPr lang="en-US" dirty="0"/>
              <a:t>Beta , Market</a:t>
            </a:r>
          </a:p>
          <a:p>
            <a:r>
              <a:rPr lang="en-US" b="1" dirty="0"/>
              <a:t>Return, </a:t>
            </a:r>
            <a:r>
              <a:rPr lang="en-US" dirty="0"/>
              <a:t>Drawdown</a:t>
            </a:r>
          </a:p>
          <a:p>
            <a:r>
              <a:rPr lang="en-US" b="1" dirty="0"/>
              <a:t>Analysis Type: </a:t>
            </a:r>
            <a:r>
              <a:rPr lang="en-US" dirty="0"/>
              <a:t>Time-Series &amp; Financial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6B3A9E-7DD3-BADC-9D18-F762DAB3DFEA}"/>
              </a:ext>
            </a:extLst>
          </p:cNvPr>
          <p:cNvSpPr txBox="1">
            <a:spLocks/>
          </p:cNvSpPr>
          <p:nvPr/>
        </p:nvSpPr>
        <p:spPr>
          <a:xfrm>
            <a:off x="6580682" y="1344999"/>
            <a:ext cx="5381469" cy="4741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Data Flow</a:t>
            </a:r>
          </a:p>
          <a:p>
            <a:pPr marL="0" indent="0" algn="ctr">
              <a:buNone/>
            </a:pPr>
            <a:r>
              <a:rPr lang="en-US" dirty="0"/>
              <a:t>CSV Files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Power Query Cleaning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Data Modeling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Relationships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DAX Measures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Visualizations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Interactive Dashboard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98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5FD3-A1FC-2549-E09A-ED3C3BC9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06178" cy="776475"/>
          </a:xfrm>
        </p:spPr>
        <p:txBody>
          <a:bodyPr/>
          <a:lstStyle/>
          <a:p>
            <a:r>
              <a:rPr lang="en-US" sz="3600" dirty="0"/>
              <a:t>Programming Languages &amp; Technologies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DB336A2-C5A9-4E5E-3A26-F43E7B8650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568516"/>
              </p:ext>
            </p:extLst>
          </p:nvPr>
        </p:nvGraphicFramePr>
        <p:xfrm>
          <a:off x="1154243" y="1444637"/>
          <a:ext cx="8394492" cy="1097280"/>
        </p:xfrm>
        <a:graphic>
          <a:graphicData uri="http://schemas.openxmlformats.org/drawingml/2006/table">
            <a:tbl>
              <a:tblPr/>
              <a:tblGrid>
                <a:gridCol w="4034228">
                  <a:extLst>
                    <a:ext uri="{9D8B030D-6E8A-4147-A177-3AD203B41FA5}">
                      <a16:colId xmlns:a16="http://schemas.microsoft.com/office/drawing/2014/main" val="595862602"/>
                    </a:ext>
                  </a:extLst>
                </a:gridCol>
                <a:gridCol w="4360264">
                  <a:extLst>
                    <a:ext uri="{9D8B030D-6E8A-4147-A177-3AD203B41FA5}">
                      <a16:colId xmlns:a16="http://schemas.microsoft.com/office/drawing/2014/main" val="4203928116"/>
                    </a:ext>
                  </a:extLst>
                </a:gridCol>
              </a:tblGrid>
              <a:tr h="34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Language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856709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KPI Calculations &amp; 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280721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Power Query (M)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Cleaning &amp;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7810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CFAB141-AC18-73D0-EE25-E7F85747FF64}"/>
              </a:ext>
            </a:extLst>
          </p:cNvPr>
          <p:cNvSpPr txBox="1"/>
          <p:nvPr/>
        </p:nvSpPr>
        <p:spPr>
          <a:xfrm>
            <a:off x="828207" y="1044527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Programming Languages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7A3799-5EF2-4EC3-6438-F6D474F9D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038008"/>
              </p:ext>
            </p:extLst>
          </p:nvPr>
        </p:nvGraphicFramePr>
        <p:xfrm>
          <a:off x="1154243" y="2803063"/>
          <a:ext cx="8720528" cy="1513020"/>
        </p:xfrm>
        <a:graphic>
          <a:graphicData uri="http://schemas.openxmlformats.org/drawingml/2006/table">
            <a:tbl>
              <a:tblPr/>
              <a:tblGrid>
                <a:gridCol w="4360264">
                  <a:extLst>
                    <a:ext uri="{9D8B030D-6E8A-4147-A177-3AD203B41FA5}">
                      <a16:colId xmlns:a16="http://schemas.microsoft.com/office/drawing/2014/main" val="2484695234"/>
                    </a:ext>
                  </a:extLst>
                </a:gridCol>
                <a:gridCol w="4360264">
                  <a:extLst>
                    <a:ext uri="{9D8B030D-6E8A-4147-A177-3AD203B41FA5}">
                      <a16:colId xmlns:a16="http://schemas.microsoft.com/office/drawing/2014/main" val="982171968"/>
                    </a:ext>
                  </a:extLst>
                </a:gridCol>
              </a:tblGrid>
              <a:tr h="37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Tool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06349"/>
                  </a:ext>
                </a:extLst>
              </a:tr>
              <a:tr h="37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Microsoft Power BI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Dashboard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581825"/>
                  </a:ext>
                </a:extLst>
              </a:tr>
              <a:tr h="37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Power Query Editor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106265"/>
                  </a:ext>
                </a:extLst>
              </a:tr>
              <a:tr h="37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Star Schema Data Model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Relationship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1989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B80B882-1937-8629-A250-3A5FAED09FF5}"/>
              </a:ext>
            </a:extLst>
          </p:cNvPr>
          <p:cNvSpPr txBox="1"/>
          <p:nvPr/>
        </p:nvSpPr>
        <p:spPr>
          <a:xfrm>
            <a:off x="828207" y="2502617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Tools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164BB6D-929F-399E-8D4C-8015EB54F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05623"/>
              </p:ext>
            </p:extLst>
          </p:nvPr>
        </p:nvGraphicFramePr>
        <p:xfrm>
          <a:off x="1154243" y="4815041"/>
          <a:ext cx="8947150" cy="182880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89695820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260105546"/>
                    </a:ext>
                  </a:extLst>
                </a:gridCol>
              </a:tblGrid>
              <a:tr h="36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Technology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56423"/>
                  </a:ext>
                </a:extLst>
              </a:tr>
              <a:tr h="36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CSV Files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Historical Stock Data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961778"/>
                  </a:ext>
                </a:extLst>
              </a:tr>
              <a:tr h="36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Interactive Visualizations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 Data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861357"/>
                  </a:ext>
                </a:extLst>
              </a:tr>
              <a:tr h="36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Slicers &amp; Filters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Data 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226158"/>
                  </a:ext>
                </a:extLst>
              </a:tr>
              <a:tr h="360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Drill-Through / Drill-Down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Detailed Company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75355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2911045-313D-9434-6F58-F3021B19A09E}"/>
              </a:ext>
            </a:extLst>
          </p:cNvPr>
          <p:cNvSpPr txBox="1"/>
          <p:nvPr/>
        </p:nvSpPr>
        <p:spPr>
          <a:xfrm>
            <a:off x="828207" y="4365507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Supporting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83068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D2E1-CF20-12CB-4C35-5EB5497F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9" y="500000"/>
            <a:ext cx="9404723" cy="716515"/>
          </a:xfrm>
        </p:spPr>
        <p:txBody>
          <a:bodyPr/>
          <a:lstStyle/>
          <a:p>
            <a:r>
              <a:rPr lang="en-US" dirty="0"/>
              <a:t>Live Application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03424E-F328-F198-AF0D-CDA5BFBE6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053554"/>
              </p:ext>
            </p:extLst>
          </p:nvPr>
        </p:nvGraphicFramePr>
        <p:xfrm>
          <a:off x="541179" y="2039956"/>
          <a:ext cx="7485682" cy="1463040"/>
        </p:xfrm>
        <a:graphic>
          <a:graphicData uri="http://schemas.openxmlformats.org/drawingml/2006/table">
            <a:tbl>
              <a:tblPr/>
              <a:tblGrid>
                <a:gridCol w="3742841">
                  <a:extLst>
                    <a:ext uri="{9D8B030D-6E8A-4147-A177-3AD203B41FA5}">
                      <a16:colId xmlns:a16="http://schemas.microsoft.com/office/drawing/2014/main" val="3071070334"/>
                    </a:ext>
                  </a:extLst>
                </a:gridCol>
                <a:gridCol w="3742841">
                  <a:extLst>
                    <a:ext uri="{9D8B030D-6E8A-4147-A177-3AD203B41FA5}">
                      <a16:colId xmlns:a16="http://schemas.microsoft.com/office/drawing/2014/main" val="368005340"/>
                    </a:ext>
                  </a:extLst>
                </a:gridCol>
              </a:tblGrid>
              <a:tr h="3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Item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510119"/>
                  </a:ext>
                </a:extLst>
              </a:tr>
              <a:tr h="3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102196"/>
                  </a:ext>
                </a:extLst>
              </a:tr>
              <a:tr h="3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Dashboard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561615"/>
                  </a:ext>
                </a:extLst>
              </a:tr>
              <a:tr h="3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Microsoft Power BI Desktop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015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384659-81BD-4EDC-1E8D-3E7B5F34DD31}"/>
              </a:ext>
            </a:extLst>
          </p:cNvPr>
          <p:cNvSpPr txBox="1"/>
          <p:nvPr/>
        </p:nvSpPr>
        <p:spPr>
          <a:xfrm>
            <a:off x="378501" y="1590886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Application Status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43F14A-BE51-7FD9-C3BB-E8096D443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624368"/>
              </p:ext>
            </p:extLst>
          </p:nvPr>
        </p:nvGraphicFramePr>
        <p:xfrm>
          <a:off x="541179" y="3828559"/>
          <a:ext cx="7200868" cy="2780861"/>
        </p:xfrm>
        <a:graphic>
          <a:graphicData uri="http://schemas.openxmlformats.org/drawingml/2006/table">
            <a:tbl>
              <a:tblPr/>
              <a:tblGrid>
                <a:gridCol w="3600434">
                  <a:extLst>
                    <a:ext uri="{9D8B030D-6E8A-4147-A177-3AD203B41FA5}">
                      <a16:colId xmlns:a16="http://schemas.microsoft.com/office/drawing/2014/main" val="1320224749"/>
                    </a:ext>
                  </a:extLst>
                </a:gridCol>
                <a:gridCol w="3600434">
                  <a:extLst>
                    <a:ext uri="{9D8B030D-6E8A-4147-A177-3AD203B41FA5}">
                      <a16:colId xmlns:a16="http://schemas.microsoft.com/office/drawing/2014/main" val="400915217"/>
                    </a:ext>
                  </a:extLst>
                </a:gridCol>
              </a:tblGrid>
              <a:tr h="307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Validation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770995"/>
                  </a:ext>
                </a:extLst>
              </a:tr>
              <a:tr h="5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 imported CSV data is accurate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67319"/>
                  </a:ext>
                </a:extLst>
              </a:tr>
              <a:tr h="307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DAX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Verify KPI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08784"/>
                  </a:ext>
                </a:extLst>
              </a:tr>
              <a:tr h="53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Ensure charts display correct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478883"/>
                  </a:ext>
                </a:extLst>
              </a:tr>
              <a:tr h="769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Filter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Verify slicers and interactions work correctly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0642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B2205E9-92B5-C899-C595-0E013F61BDA2}"/>
              </a:ext>
            </a:extLst>
          </p:cNvPr>
          <p:cNvSpPr txBox="1"/>
          <p:nvPr/>
        </p:nvSpPr>
        <p:spPr>
          <a:xfrm>
            <a:off x="378501" y="3454188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Dashboard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F1CE6-4EAA-385E-BD94-DB0E2EA5654E}"/>
              </a:ext>
            </a:extLst>
          </p:cNvPr>
          <p:cNvSpPr txBox="1"/>
          <p:nvPr/>
        </p:nvSpPr>
        <p:spPr>
          <a:xfrm>
            <a:off x="7742047" y="4326437"/>
            <a:ext cx="40714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Quality Assurance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KPIs verified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interactions validated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consistency confirmed</a:t>
            </a:r>
          </a:p>
        </p:txBody>
      </p:sp>
    </p:spTree>
    <p:extLst>
      <p:ext uri="{BB962C8B-B14F-4D97-AF65-F5344CB8AC3E}">
        <p14:creationId xmlns:p14="http://schemas.microsoft.com/office/powerpoint/2010/main" val="42519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B486-E295-A2DF-010B-F7FEAE31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66334"/>
            <a:ext cx="9404723" cy="686534"/>
          </a:xfrm>
        </p:spPr>
        <p:txBody>
          <a:bodyPr/>
          <a:lstStyle/>
          <a:p>
            <a:r>
              <a:rPr lang="en-US" dirty="0"/>
              <a:t>Deliverables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11C473-1CBF-B88D-7D0D-FA358D2C0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271681"/>
              </p:ext>
            </p:extLst>
          </p:nvPr>
        </p:nvGraphicFramePr>
        <p:xfrm>
          <a:off x="478733" y="1428408"/>
          <a:ext cx="7280734" cy="1828800"/>
        </p:xfrm>
        <a:graphic>
          <a:graphicData uri="http://schemas.openxmlformats.org/drawingml/2006/table">
            <a:tbl>
              <a:tblPr/>
              <a:tblGrid>
                <a:gridCol w="3640367">
                  <a:extLst>
                    <a:ext uri="{9D8B030D-6E8A-4147-A177-3AD203B41FA5}">
                      <a16:colId xmlns:a16="http://schemas.microsoft.com/office/drawing/2014/main" val="4282902181"/>
                    </a:ext>
                  </a:extLst>
                </a:gridCol>
                <a:gridCol w="3640367">
                  <a:extLst>
                    <a:ext uri="{9D8B030D-6E8A-4147-A177-3AD203B41FA5}">
                      <a16:colId xmlns:a16="http://schemas.microsoft.com/office/drawing/2014/main" val="3933253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Item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767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 Dashboard (.</a:t>
                      </a:r>
                      <a:r>
                        <a:rPr lang="en-US" dirty="0" err="1"/>
                        <a:t>pbix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8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21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50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61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57097F-A910-A7AF-AC58-369A9FF1770A}"/>
              </a:ext>
            </a:extLst>
          </p:cNvPr>
          <p:cNvSpPr txBox="1"/>
          <p:nvPr/>
        </p:nvSpPr>
        <p:spPr>
          <a:xfrm>
            <a:off x="345327" y="1028298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Deliverables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405152-7C51-D44D-E5B8-D9B5C2797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89142"/>
              </p:ext>
            </p:extLst>
          </p:nvPr>
        </p:nvGraphicFramePr>
        <p:xfrm>
          <a:off x="478733" y="3944378"/>
          <a:ext cx="6426294" cy="2066406"/>
        </p:xfrm>
        <a:graphic>
          <a:graphicData uri="http://schemas.openxmlformats.org/drawingml/2006/table">
            <a:tbl>
              <a:tblPr/>
              <a:tblGrid>
                <a:gridCol w="3213147">
                  <a:extLst>
                    <a:ext uri="{9D8B030D-6E8A-4147-A177-3AD203B41FA5}">
                      <a16:colId xmlns:a16="http://schemas.microsoft.com/office/drawing/2014/main" val="3775000769"/>
                    </a:ext>
                  </a:extLst>
                </a:gridCol>
                <a:gridCol w="3213147">
                  <a:extLst>
                    <a:ext uri="{9D8B030D-6E8A-4147-A177-3AD203B41FA5}">
                      <a16:colId xmlns:a16="http://schemas.microsoft.com/office/drawing/2014/main" val="2331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Phase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11387"/>
                  </a:ext>
                </a:extLst>
              </a:tr>
              <a:tr h="6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Preparation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925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217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43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846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0F17DF7-E3A6-2978-3366-A6445AF24E7A}"/>
              </a:ext>
            </a:extLst>
          </p:cNvPr>
          <p:cNvSpPr txBox="1"/>
          <p:nvPr/>
        </p:nvSpPr>
        <p:spPr>
          <a:xfrm>
            <a:off x="345327" y="3400738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Project Milestones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5A810A-6664-1DD0-F19D-BF0E0DECC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47223"/>
              </p:ext>
            </p:extLst>
          </p:nvPr>
        </p:nvGraphicFramePr>
        <p:xfrm>
          <a:off x="6771556" y="3944378"/>
          <a:ext cx="5160614" cy="2066405"/>
        </p:xfrm>
        <a:graphic>
          <a:graphicData uri="http://schemas.openxmlformats.org/drawingml/2006/table">
            <a:tbl>
              <a:tblPr/>
              <a:tblGrid>
                <a:gridCol w="5160614">
                  <a:extLst>
                    <a:ext uri="{9D8B030D-6E8A-4147-A177-3AD203B41FA5}">
                      <a16:colId xmlns:a16="http://schemas.microsoft.com/office/drawing/2014/main" val="1530805204"/>
                    </a:ext>
                  </a:extLst>
                </a:gridCol>
              </a:tblGrid>
              <a:tr h="41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Product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11292"/>
                  </a:ext>
                </a:extLst>
              </a:tr>
              <a:tr h="41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Power BI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61305"/>
                  </a:ext>
                </a:extLst>
              </a:tr>
              <a:tr h="41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040768"/>
                  </a:ext>
                </a:extLst>
              </a:tr>
              <a:tr h="41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Presentation Slides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64702"/>
                  </a:ext>
                </a:extLst>
              </a:tr>
              <a:tr h="41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Source Dataset (CSV)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037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6CBBC3-1A63-CA5F-07E4-DF04245F9EEF}"/>
              </a:ext>
            </a:extLst>
          </p:cNvPr>
          <p:cNvSpPr txBox="1"/>
          <p:nvPr/>
        </p:nvSpPr>
        <p:spPr>
          <a:xfrm>
            <a:off x="6579137" y="3392366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Final Products</a:t>
            </a:r>
          </a:p>
        </p:txBody>
      </p:sp>
    </p:spTree>
    <p:extLst>
      <p:ext uri="{BB962C8B-B14F-4D97-AF65-F5344CB8AC3E}">
        <p14:creationId xmlns:p14="http://schemas.microsoft.com/office/powerpoint/2010/main" val="11611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3A73-951C-084A-19B1-314FE408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6534"/>
          </a:xfrm>
        </p:spPr>
        <p:txBody>
          <a:bodyPr/>
          <a:lstStyle/>
          <a:p>
            <a:r>
              <a:rPr lang="en-US" dirty="0"/>
              <a:t>Project Team + Roles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80C027-AB18-33AD-D299-EFCEE41CBF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080407"/>
              </p:ext>
            </p:extLst>
          </p:nvPr>
        </p:nvGraphicFramePr>
        <p:xfrm>
          <a:off x="980530" y="1194048"/>
          <a:ext cx="8535206" cy="3766870"/>
        </p:xfrm>
        <a:graphic>
          <a:graphicData uri="http://schemas.openxmlformats.org/drawingml/2006/table">
            <a:tbl>
              <a:tblPr/>
              <a:tblGrid>
                <a:gridCol w="4267603">
                  <a:extLst>
                    <a:ext uri="{9D8B030D-6E8A-4147-A177-3AD203B41FA5}">
                      <a16:colId xmlns:a16="http://schemas.microsoft.com/office/drawing/2014/main" val="2783928092"/>
                    </a:ext>
                  </a:extLst>
                </a:gridCol>
                <a:gridCol w="4267603">
                  <a:extLst>
                    <a:ext uri="{9D8B030D-6E8A-4147-A177-3AD203B41FA5}">
                      <a16:colId xmlns:a16="http://schemas.microsoft.com/office/drawing/2014/main" val="1724815827"/>
                    </a:ext>
                  </a:extLst>
                </a:gridCol>
              </a:tblGrid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Members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Role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91490"/>
                  </a:ext>
                </a:extLst>
              </a:tr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Azza Yasser EL Arif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573"/>
                  </a:ext>
                </a:extLst>
              </a:tr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Mohamed Atef Abdel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Cleaning &amp;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628086"/>
                  </a:ext>
                </a:extLst>
              </a:tr>
              <a:tr h="56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Mariam Hany Ibrahim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Modeling (Star Schema &amp; Relationships)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252209"/>
                  </a:ext>
                </a:extLst>
              </a:tr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Nouran Ezzat Attia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325316"/>
                  </a:ext>
                </a:extLst>
              </a:tr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Mohamed Basem Khalil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Dashboard Design &amp;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DAX Measures &amp; KPI Development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977685"/>
                  </a:ext>
                </a:extLst>
              </a:tr>
              <a:tr h="497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Rahma Nabil </a:t>
                      </a:r>
                      <a:r>
                        <a:rPr lang="en-US" b="1" dirty="0" err="1"/>
                        <a:t>Mohamady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9936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23E623-C186-380A-E4E2-CAE307E458CB}"/>
              </a:ext>
            </a:extLst>
          </p:cNvPr>
          <p:cNvSpPr txBox="1"/>
          <p:nvPr/>
        </p:nvSpPr>
        <p:spPr>
          <a:xfrm>
            <a:off x="980530" y="4909899"/>
            <a:ext cx="436794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Collaboration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WhatsApp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ZOOM Meeting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 Meeting</a:t>
            </a:r>
          </a:p>
        </p:txBody>
      </p:sp>
    </p:spTree>
    <p:extLst>
      <p:ext uri="{BB962C8B-B14F-4D97-AF65-F5344CB8AC3E}">
        <p14:creationId xmlns:p14="http://schemas.microsoft.com/office/powerpoint/2010/main" val="216683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4DF-06EB-B8BC-1634-48249610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b="1" dirty="0"/>
              <a:t>   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2C11-4262-99CA-366A-E20C94FA868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934633" y="3257913"/>
            <a:ext cx="7279649" cy="342174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Bahnschrift" panose="020B0502040204020203" pitchFamily="34" charset="0"/>
              </a:rPr>
              <a:t>Any Questions??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776CD-F774-741A-0A98-9C8FEF2CA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4633" y="4121097"/>
            <a:ext cx="4573883" cy="2578206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Contact Information</a:t>
            </a:r>
            <a:r>
              <a:rPr lang="ar-EG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:</a:t>
            </a:r>
            <a:endParaRPr lang="en-US" sz="2000" b="1" dirty="0">
              <a:solidFill>
                <a:schemeClr val="bg2">
                  <a:lumMod val="40000"/>
                  <a:lumOff val="6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mariamhanyai07@hotmail.com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nourranezzat8@gmail.com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mohamedbasem518@gmail.com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azzayasser791@gmail.com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moddeatef123@gmail.com</a:t>
            </a:r>
          </a:p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rn4638975@gmail.com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45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173</TotalTime>
  <Words>653</Words>
  <Application>Microsoft Office PowerPoint</Application>
  <PresentationFormat>Widescreen</PresentationFormat>
  <Paragraphs>193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Bahnschrift</vt:lpstr>
      <vt:lpstr>Century Gothic</vt:lpstr>
      <vt:lpstr>Wingdings 3</vt:lpstr>
      <vt:lpstr>Ion</vt:lpstr>
      <vt:lpstr>COVID-19 Pandemic Effect on Corporate Stocks</vt:lpstr>
      <vt:lpstr>Project Idea:</vt:lpstr>
      <vt:lpstr>Project Wireframe:</vt:lpstr>
      <vt:lpstr>Project Wireframe:</vt:lpstr>
      <vt:lpstr>Project Wireframe:</vt:lpstr>
      <vt:lpstr>End Users &amp; Features </vt:lpstr>
      <vt:lpstr>Data Structure</vt:lpstr>
      <vt:lpstr>Data Structure</vt:lpstr>
      <vt:lpstr>Programming Languages &amp; Technologies</vt:lpstr>
      <vt:lpstr>Live Application</vt:lpstr>
      <vt:lpstr>Deliverables</vt:lpstr>
      <vt:lpstr>Project Team + Roles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Ramadan Nabil</dc:creator>
  <cp:lastModifiedBy>Ramadan Nabil</cp:lastModifiedBy>
  <cp:revision>3</cp:revision>
  <dcterms:created xsi:type="dcterms:W3CDTF">2026-07-01T20:10:55Z</dcterms:created>
  <dcterms:modified xsi:type="dcterms:W3CDTF">2026-07-02T08:17:15Z</dcterms:modified>
</cp:coreProperties>
</file>